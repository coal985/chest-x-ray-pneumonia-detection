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 Slab"/>
      <p:regular r:id="rId18"/>
      <p:bold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Poppins SemiBold"/>
      <p:regular r:id="rId24"/>
      <p:bold r:id="rId25"/>
      <p:italic r:id="rId26"/>
      <p:boldItalic r:id="rId27"/>
    </p:embeddedFont>
    <p:embeddedFont>
      <p:font typeface="Nunito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PoppinsSemiBold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SemiBold-italic.fntdata"/><Relationship Id="rId25" Type="http://schemas.openxmlformats.org/officeDocument/2006/relationships/font" Target="fonts/PoppinsSemiBold-bold.fntdata"/><Relationship Id="rId28" Type="http://schemas.openxmlformats.org/officeDocument/2006/relationships/font" Target="fonts/NunitoSans-regular.fntdata"/><Relationship Id="rId27" Type="http://schemas.openxmlformats.org/officeDocument/2006/relationships/font" Target="fonts/Poppins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Sans-boldItalic.fntdata"/><Relationship Id="rId30" Type="http://schemas.openxmlformats.org/officeDocument/2006/relationships/font" Target="fonts/Nunito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Slab-bold.fntdata"/><Relationship Id="rId18" Type="http://schemas.openxmlformats.org/officeDocument/2006/relationships/font" Target="fonts/RobotoSlab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6f665c7b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86f665c7b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76eb75e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76eb75e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6f665c7b7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6f665c7b7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74ef758b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74ef758b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71d3c27b7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71d3c27b7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74ee619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74ee619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74ee6192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74ee6192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74ef758b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74ef758b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a42b54f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a42b54f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a42b54fb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a42b54fb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76eb75e0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76eb75e0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76eb75e07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76eb75e07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1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3"/>
          <p:cNvPicPr preferRelativeResize="0"/>
          <p:nvPr/>
        </p:nvPicPr>
        <p:blipFill rotWithShape="1">
          <a:blip r:embed="rId2">
            <a:alphaModFix/>
          </a:blip>
          <a:srcRect b="0" l="0" r="49303" t="53791"/>
          <a:stretch/>
        </p:blipFill>
        <p:spPr>
          <a:xfrm>
            <a:off x="6996180" y="-1"/>
            <a:ext cx="2147827" cy="237669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/>
          <p:nvPr/>
        </p:nvSpPr>
        <p:spPr>
          <a:xfrm rot="7601886">
            <a:off x="1184700" y="-2992710"/>
            <a:ext cx="11804607" cy="6869923"/>
          </a:xfrm>
          <a:custGeom>
            <a:rect b="b" l="l" r="r" t="t"/>
            <a:pathLst>
              <a:path extrusionOk="0" h="19489" w="33488">
                <a:moveTo>
                  <a:pt x="0" y="5480"/>
                </a:moveTo>
                <a:cubicBezTo>
                  <a:pt x="4083" y="3995"/>
                  <a:pt x="8956" y="3778"/>
                  <a:pt x="13034" y="5280"/>
                </a:cubicBezTo>
                <a:cubicBezTo>
                  <a:pt x="17705" y="7000"/>
                  <a:pt x="22916" y="16554"/>
                  <a:pt x="18649" y="19116"/>
                </a:cubicBezTo>
                <a:cubicBezTo>
                  <a:pt x="14717" y="21477"/>
                  <a:pt x="11737" y="9928"/>
                  <a:pt x="14237" y="6082"/>
                </a:cubicBezTo>
                <a:cubicBezTo>
                  <a:pt x="17901" y="445"/>
                  <a:pt x="26769" y="-175"/>
                  <a:pt x="33488" y="66"/>
                </a:cubicBezTo>
              </a:path>
            </a:pathLst>
          </a:custGeom>
          <a:noFill/>
          <a:ln>
            <a:noFill/>
          </a:ln>
        </p:spPr>
      </p:sp>
      <p:pic>
        <p:nvPicPr>
          <p:cNvPr id="62" name="Google Shape;62;p13"/>
          <p:cNvPicPr preferRelativeResize="0"/>
          <p:nvPr/>
        </p:nvPicPr>
        <p:blipFill rotWithShape="1">
          <a:blip r:embed="rId3">
            <a:alphaModFix/>
          </a:blip>
          <a:srcRect b="67899" l="18884" r="0" t="0"/>
          <a:stretch/>
        </p:blipFill>
        <p:spPr>
          <a:xfrm>
            <a:off x="0" y="2451450"/>
            <a:ext cx="6802801" cy="269204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>
            <p:ph type="title"/>
          </p:nvPr>
        </p:nvSpPr>
        <p:spPr>
          <a:xfrm>
            <a:off x="1230200" y="1565531"/>
            <a:ext cx="6683700" cy="17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2423700" y="1121975"/>
            <a:ext cx="43467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5" name="Google Shape;65;p13"/>
          <p:cNvSpPr/>
          <p:nvPr/>
        </p:nvSpPr>
        <p:spPr>
          <a:xfrm>
            <a:off x="4453700" y="0"/>
            <a:ext cx="4698208" cy="5143488"/>
          </a:xfrm>
          <a:custGeom>
            <a:rect b="b" l="l" r="r" t="t"/>
            <a:pathLst>
              <a:path extrusionOk="0" h="160734" w="146819">
                <a:moveTo>
                  <a:pt x="0" y="0"/>
                </a:moveTo>
                <a:lnTo>
                  <a:pt x="1600" y="1079"/>
                </a:lnTo>
                <a:lnTo>
                  <a:pt x="3200" y="2121"/>
                </a:lnTo>
                <a:lnTo>
                  <a:pt x="4800" y="3088"/>
                </a:lnTo>
                <a:lnTo>
                  <a:pt x="6362" y="4056"/>
                </a:lnTo>
                <a:lnTo>
                  <a:pt x="9376" y="5804"/>
                </a:lnTo>
                <a:lnTo>
                  <a:pt x="12204" y="7367"/>
                </a:lnTo>
                <a:lnTo>
                  <a:pt x="15292" y="9004"/>
                </a:lnTo>
                <a:lnTo>
                  <a:pt x="18306" y="10530"/>
                </a:lnTo>
                <a:lnTo>
                  <a:pt x="21282" y="11981"/>
                </a:lnTo>
                <a:lnTo>
                  <a:pt x="24222" y="13320"/>
                </a:lnTo>
                <a:lnTo>
                  <a:pt x="27087" y="14622"/>
                </a:lnTo>
                <a:lnTo>
                  <a:pt x="29915" y="15813"/>
                </a:lnTo>
                <a:lnTo>
                  <a:pt x="32705" y="16929"/>
                </a:lnTo>
                <a:lnTo>
                  <a:pt x="35496" y="17934"/>
                </a:lnTo>
                <a:lnTo>
                  <a:pt x="38733" y="19087"/>
                </a:lnTo>
                <a:lnTo>
                  <a:pt x="40332" y="19608"/>
                </a:lnTo>
                <a:lnTo>
                  <a:pt x="41932" y="20092"/>
                </a:lnTo>
                <a:lnTo>
                  <a:pt x="43495" y="20538"/>
                </a:lnTo>
                <a:lnTo>
                  <a:pt x="45058" y="20985"/>
                </a:lnTo>
                <a:lnTo>
                  <a:pt x="46620" y="21394"/>
                </a:lnTo>
                <a:lnTo>
                  <a:pt x="48183" y="21803"/>
                </a:lnTo>
                <a:lnTo>
                  <a:pt x="49709" y="22138"/>
                </a:lnTo>
                <a:lnTo>
                  <a:pt x="51271" y="22473"/>
                </a:lnTo>
                <a:lnTo>
                  <a:pt x="52797" y="22771"/>
                </a:lnTo>
                <a:lnTo>
                  <a:pt x="54322" y="23068"/>
                </a:lnTo>
                <a:lnTo>
                  <a:pt x="55811" y="23292"/>
                </a:lnTo>
                <a:lnTo>
                  <a:pt x="57336" y="23515"/>
                </a:lnTo>
                <a:lnTo>
                  <a:pt x="58824" y="23738"/>
                </a:lnTo>
                <a:lnTo>
                  <a:pt x="60350" y="23887"/>
                </a:lnTo>
                <a:lnTo>
                  <a:pt x="64591" y="24185"/>
                </a:lnTo>
                <a:lnTo>
                  <a:pt x="68759" y="24371"/>
                </a:lnTo>
                <a:lnTo>
                  <a:pt x="72926" y="24482"/>
                </a:lnTo>
                <a:lnTo>
                  <a:pt x="77019" y="24519"/>
                </a:lnTo>
                <a:lnTo>
                  <a:pt x="80070" y="24519"/>
                </a:lnTo>
                <a:lnTo>
                  <a:pt x="83121" y="24445"/>
                </a:lnTo>
                <a:lnTo>
                  <a:pt x="86134" y="24333"/>
                </a:lnTo>
                <a:lnTo>
                  <a:pt x="89111" y="24185"/>
                </a:lnTo>
                <a:lnTo>
                  <a:pt x="92087" y="23961"/>
                </a:lnTo>
                <a:lnTo>
                  <a:pt x="94990" y="23738"/>
                </a:lnTo>
                <a:lnTo>
                  <a:pt x="97929" y="23440"/>
                </a:lnTo>
                <a:lnTo>
                  <a:pt x="100794" y="23106"/>
                </a:lnTo>
                <a:lnTo>
                  <a:pt x="103659" y="22733"/>
                </a:lnTo>
                <a:lnTo>
                  <a:pt x="106487" y="22324"/>
                </a:lnTo>
                <a:lnTo>
                  <a:pt x="109314" y="21878"/>
                </a:lnTo>
                <a:lnTo>
                  <a:pt x="112068" y="21357"/>
                </a:lnTo>
                <a:lnTo>
                  <a:pt x="114821" y="20836"/>
                </a:lnTo>
                <a:lnTo>
                  <a:pt x="117574" y="20241"/>
                </a:lnTo>
                <a:lnTo>
                  <a:pt x="120253" y="19608"/>
                </a:lnTo>
                <a:lnTo>
                  <a:pt x="122932" y="18938"/>
                </a:lnTo>
                <a:lnTo>
                  <a:pt x="124978" y="18380"/>
                </a:lnTo>
                <a:lnTo>
                  <a:pt x="127062" y="17785"/>
                </a:lnTo>
                <a:lnTo>
                  <a:pt x="129108" y="17152"/>
                </a:lnTo>
                <a:lnTo>
                  <a:pt x="131118" y="16520"/>
                </a:lnTo>
                <a:lnTo>
                  <a:pt x="131973" y="18678"/>
                </a:lnTo>
                <a:lnTo>
                  <a:pt x="132755" y="20873"/>
                </a:lnTo>
                <a:lnTo>
                  <a:pt x="133462" y="23106"/>
                </a:lnTo>
                <a:lnTo>
                  <a:pt x="134131" y="25338"/>
                </a:lnTo>
                <a:lnTo>
                  <a:pt x="134764" y="27608"/>
                </a:lnTo>
                <a:lnTo>
                  <a:pt x="135322" y="29914"/>
                </a:lnTo>
                <a:lnTo>
                  <a:pt x="135843" y="32258"/>
                </a:lnTo>
                <a:lnTo>
                  <a:pt x="136289" y="34602"/>
                </a:lnTo>
                <a:lnTo>
                  <a:pt x="136550" y="36128"/>
                </a:lnTo>
                <a:lnTo>
                  <a:pt x="136810" y="37691"/>
                </a:lnTo>
                <a:lnTo>
                  <a:pt x="137034" y="39291"/>
                </a:lnTo>
                <a:lnTo>
                  <a:pt x="137220" y="40890"/>
                </a:lnTo>
                <a:lnTo>
                  <a:pt x="137406" y="42490"/>
                </a:lnTo>
                <a:lnTo>
                  <a:pt x="137554" y="44090"/>
                </a:lnTo>
                <a:lnTo>
                  <a:pt x="137666" y="45727"/>
                </a:lnTo>
                <a:lnTo>
                  <a:pt x="137778" y="47364"/>
                </a:lnTo>
                <a:lnTo>
                  <a:pt x="137852" y="49002"/>
                </a:lnTo>
                <a:lnTo>
                  <a:pt x="137889" y="50639"/>
                </a:lnTo>
                <a:lnTo>
                  <a:pt x="137927" y="52313"/>
                </a:lnTo>
                <a:lnTo>
                  <a:pt x="137964" y="54024"/>
                </a:lnTo>
                <a:lnTo>
                  <a:pt x="137927" y="55699"/>
                </a:lnTo>
                <a:lnTo>
                  <a:pt x="137889" y="57410"/>
                </a:lnTo>
                <a:lnTo>
                  <a:pt x="137852" y="59122"/>
                </a:lnTo>
                <a:lnTo>
                  <a:pt x="137778" y="60833"/>
                </a:lnTo>
                <a:lnTo>
                  <a:pt x="137666" y="62582"/>
                </a:lnTo>
                <a:lnTo>
                  <a:pt x="137517" y="64331"/>
                </a:lnTo>
                <a:lnTo>
                  <a:pt x="137182" y="67865"/>
                </a:lnTo>
                <a:lnTo>
                  <a:pt x="136773" y="71400"/>
                </a:lnTo>
                <a:lnTo>
                  <a:pt x="136252" y="75009"/>
                </a:lnTo>
                <a:lnTo>
                  <a:pt x="135657" y="78655"/>
                </a:lnTo>
                <a:lnTo>
                  <a:pt x="134950" y="82339"/>
                </a:lnTo>
                <a:lnTo>
                  <a:pt x="134169" y="86060"/>
                </a:lnTo>
                <a:lnTo>
                  <a:pt x="133276" y="89818"/>
                </a:lnTo>
                <a:lnTo>
                  <a:pt x="132494" y="92869"/>
                </a:lnTo>
                <a:lnTo>
                  <a:pt x="131676" y="95920"/>
                </a:lnTo>
                <a:lnTo>
                  <a:pt x="130783" y="99008"/>
                </a:lnTo>
                <a:lnTo>
                  <a:pt x="129853" y="102133"/>
                </a:lnTo>
                <a:lnTo>
                  <a:pt x="128811" y="105258"/>
                </a:lnTo>
                <a:lnTo>
                  <a:pt x="127769" y="108384"/>
                </a:lnTo>
                <a:lnTo>
                  <a:pt x="126653" y="111546"/>
                </a:lnTo>
                <a:lnTo>
                  <a:pt x="125462" y="114746"/>
                </a:lnTo>
                <a:lnTo>
                  <a:pt x="124197" y="117946"/>
                </a:lnTo>
                <a:lnTo>
                  <a:pt x="122932" y="121183"/>
                </a:lnTo>
                <a:lnTo>
                  <a:pt x="121555" y="124420"/>
                </a:lnTo>
                <a:lnTo>
                  <a:pt x="120142" y="127657"/>
                </a:lnTo>
                <a:lnTo>
                  <a:pt x="118691" y="130931"/>
                </a:lnTo>
                <a:lnTo>
                  <a:pt x="117165" y="134243"/>
                </a:lnTo>
                <a:lnTo>
                  <a:pt x="115602" y="137517"/>
                </a:lnTo>
                <a:lnTo>
                  <a:pt x="113965" y="140865"/>
                </a:lnTo>
                <a:lnTo>
                  <a:pt x="112626" y="143507"/>
                </a:lnTo>
                <a:lnTo>
                  <a:pt x="111249" y="146149"/>
                </a:lnTo>
                <a:lnTo>
                  <a:pt x="109910" y="148716"/>
                </a:lnTo>
                <a:lnTo>
                  <a:pt x="108533" y="151209"/>
                </a:lnTo>
                <a:lnTo>
                  <a:pt x="107194" y="153665"/>
                </a:lnTo>
                <a:lnTo>
                  <a:pt x="105817" y="156083"/>
                </a:lnTo>
                <a:lnTo>
                  <a:pt x="103138" y="160734"/>
                </a:lnTo>
                <a:lnTo>
                  <a:pt x="103845" y="160734"/>
                </a:lnTo>
                <a:lnTo>
                  <a:pt x="106487" y="156158"/>
                </a:lnTo>
                <a:lnTo>
                  <a:pt x="107826" y="153776"/>
                </a:lnTo>
                <a:lnTo>
                  <a:pt x="109165" y="151358"/>
                </a:lnTo>
                <a:lnTo>
                  <a:pt x="110505" y="148865"/>
                </a:lnTo>
                <a:lnTo>
                  <a:pt x="111844" y="146335"/>
                </a:lnTo>
                <a:lnTo>
                  <a:pt x="113147" y="143768"/>
                </a:lnTo>
                <a:lnTo>
                  <a:pt x="114486" y="141126"/>
                </a:lnTo>
                <a:lnTo>
                  <a:pt x="116123" y="137815"/>
                </a:lnTo>
                <a:lnTo>
                  <a:pt x="117686" y="134503"/>
                </a:lnTo>
                <a:lnTo>
                  <a:pt x="119211" y="131192"/>
                </a:lnTo>
                <a:lnTo>
                  <a:pt x="120700" y="127917"/>
                </a:lnTo>
                <a:lnTo>
                  <a:pt x="122114" y="124643"/>
                </a:lnTo>
                <a:lnTo>
                  <a:pt x="123453" y="121406"/>
                </a:lnTo>
                <a:lnTo>
                  <a:pt x="124755" y="118169"/>
                </a:lnTo>
                <a:lnTo>
                  <a:pt x="126020" y="114969"/>
                </a:lnTo>
                <a:lnTo>
                  <a:pt x="127211" y="111770"/>
                </a:lnTo>
                <a:lnTo>
                  <a:pt x="128327" y="108607"/>
                </a:lnTo>
                <a:lnTo>
                  <a:pt x="129406" y="105444"/>
                </a:lnTo>
                <a:lnTo>
                  <a:pt x="130411" y="102282"/>
                </a:lnTo>
                <a:lnTo>
                  <a:pt x="131341" y="99194"/>
                </a:lnTo>
                <a:lnTo>
                  <a:pt x="132234" y="96106"/>
                </a:lnTo>
                <a:lnTo>
                  <a:pt x="133090" y="93017"/>
                </a:lnTo>
                <a:lnTo>
                  <a:pt x="133871" y="89966"/>
                </a:lnTo>
                <a:lnTo>
                  <a:pt x="134764" y="86208"/>
                </a:lnTo>
                <a:lnTo>
                  <a:pt x="135545" y="82451"/>
                </a:lnTo>
                <a:lnTo>
                  <a:pt x="136252" y="78767"/>
                </a:lnTo>
                <a:lnTo>
                  <a:pt x="136848" y="75121"/>
                </a:lnTo>
                <a:lnTo>
                  <a:pt x="137368" y="71475"/>
                </a:lnTo>
                <a:lnTo>
                  <a:pt x="137778" y="67903"/>
                </a:lnTo>
                <a:lnTo>
                  <a:pt x="138113" y="64368"/>
                </a:lnTo>
                <a:lnTo>
                  <a:pt x="138261" y="62619"/>
                </a:lnTo>
                <a:lnTo>
                  <a:pt x="138373" y="60871"/>
                </a:lnTo>
                <a:lnTo>
                  <a:pt x="138447" y="59122"/>
                </a:lnTo>
                <a:lnTo>
                  <a:pt x="138485" y="57410"/>
                </a:lnTo>
                <a:lnTo>
                  <a:pt x="138522" y="55699"/>
                </a:lnTo>
                <a:lnTo>
                  <a:pt x="138559" y="53987"/>
                </a:lnTo>
                <a:lnTo>
                  <a:pt x="138522" y="52313"/>
                </a:lnTo>
                <a:lnTo>
                  <a:pt x="138485" y="50639"/>
                </a:lnTo>
                <a:lnTo>
                  <a:pt x="138447" y="48964"/>
                </a:lnTo>
                <a:lnTo>
                  <a:pt x="138373" y="47327"/>
                </a:lnTo>
                <a:lnTo>
                  <a:pt x="138261" y="45653"/>
                </a:lnTo>
                <a:lnTo>
                  <a:pt x="138113" y="44016"/>
                </a:lnTo>
                <a:lnTo>
                  <a:pt x="137964" y="42416"/>
                </a:lnTo>
                <a:lnTo>
                  <a:pt x="137815" y="40816"/>
                </a:lnTo>
                <a:lnTo>
                  <a:pt x="137592" y="39216"/>
                </a:lnTo>
                <a:lnTo>
                  <a:pt x="137368" y="37616"/>
                </a:lnTo>
                <a:lnTo>
                  <a:pt x="137145" y="36054"/>
                </a:lnTo>
                <a:lnTo>
                  <a:pt x="136885" y="34491"/>
                </a:lnTo>
                <a:lnTo>
                  <a:pt x="136401" y="32110"/>
                </a:lnTo>
                <a:lnTo>
                  <a:pt x="135917" y="29803"/>
                </a:lnTo>
                <a:lnTo>
                  <a:pt x="135359" y="27496"/>
                </a:lnTo>
                <a:lnTo>
                  <a:pt x="134727" y="25189"/>
                </a:lnTo>
                <a:lnTo>
                  <a:pt x="134057" y="22957"/>
                </a:lnTo>
                <a:lnTo>
                  <a:pt x="133313" y="20724"/>
                </a:lnTo>
                <a:lnTo>
                  <a:pt x="132532" y="18492"/>
                </a:lnTo>
                <a:lnTo>
                  <a:pt x="131676" y="16334"/>
                </a:lnTo>
                <a:lnTo>
                  <a:pt x="133648" y="15664"/>
                </a:lnTo>
                <a:lnTo>
                  <a:pt x="135545" y="14994"/>
                </a:lnTo>
                <a:lnTo>
                  <a:pt x="137480" y="14287"/>
                </a:lnTo>
                <a:lnTo>
                  <a:pt x="139378" y="13581"/>
                </a:lnTo>
                <a:lnTo>
                  <a:pt x="141238" y="12836"/>
                </a:lnTo>
                <a:lnTo>
                  <a:pt x="143136" y="12055"/>
                </a:lnTo>
                <a:lnTo>
                  <a:pt x="144996" y="11236"/>
                </a:lnTo>
                <a:lnTo>
                  <a:pt x="146819" y="10418"/>
                </a:lnTo>
                <a:lnTo>
                  <a:pt x="146819" y="9785"/>
                </a:lnTo>
                <a:lnTo>
                  <a:pt x="144959" y="10604"/>
                </a:lnTo>
                <a:lnTo>
                  <a:pt x="143061" y="11423"/>
                </a:lnTo>
                <a:lnTo>
                  <a:pt x="141164" y="12204"/>
                </a:lnTo>
                <a:lnTo>
                  <a:pt x="139266" y="12985"/>
                </a:lnTo>
                <a:lnTo>
                  <a:pt x="137331" y="13729"/>
                </a:lnTo>
                <a:lnTo>
                  <a:pt x="135396" y="14436"/>
                </a:lnTo>
                <a:lnTo>
                  <a:pt x="133424" y="15106"/>
                </a:lnTo>
                <a:lnTo>
                  <a:pt x="131453" y="15776"/>
                </a:lnTo>
                <a:lnTo>
                  <a:pt x="130597" y="13729"/>
                </a:lnTo>
                <a:lnTo>
                  <a:pt x="129667" y="11683"/>
                </a:lnTo>
                <a:lnTo>
                  <a:pt x="128699" y="9674"/>
                </a:lnTo>
                <a:lnTo>
                  <a:pt x="127695" y="7665"/>
                </a:lnTo>
                <a:lnTo>
                  <a:pt x="126616" y="5730"/>
                </a:lnTo>
                <a:lnTo>
                  <a:pt x="125499" y="3795"/>
                </a:lnTo>
                <a:lnTo>
                  <a:pt x="124309" y="1860"/>
                </a:lnTo>
                <a:lnTo>
                  <a:pt x="123081" y="0"/>
                </a:lnTo>
                <a:lnTo>
                  <a:pt x="122374" y="0"/>
                </a:lnTo>
                <a:lnTo>
                  <a:pt x="123639" y="1898"/>
                </a:lnTo>
                <a:lnTo>
                  <a:pt x="124830" y="3832"/>
                </a:lnTo>
                <a:lnTo>
                  <a:pt x="125946" y="5767"/>
                </a:lnTo>
                <a:lnTo>
                  <a:pt x="127062" y="7739"/>
                </a:lnTo>
                <a:lnTo>
                  <a:pt x="128104" y="9785"/>
                </a:lnTo>
                <a:lnTo>
                  <a:pt x="129071" y="11795"/>
                </a:lnTo>
                <a:lnTo>
                  <a:pt x="130001" y="13878"/>
                </a:lnTo>
                <a:lnTo>
                  <a:pt x="130894" y="15962"/>
                </a:lnTo>
                <a:lnTo>
                  <a:pt x="128885" y="16594"/>
                </a:lnTo>
                <a:lnTo>
                  <a:pt x="126876" y="17227"/>
                </a:lnTo>
                <a:lnTo>
                  <a:pt x="124830" y="17785"/>
                </a:lnTo>
                <a:lnTo>
                  <a:pt x="122783" y="18343"/>
                </a:lnTo>
                <a:lnTo>
                  <a:pt x="119211" y="19236"/>
                </a:lnTo>
                <a:lnTo>
                  <a:pt x="115602" y="20055"/>
                </a:lnTo>
                <a:lnTo>
                  <a:pt x="111956" y="20799"/>
                </a:lnTo>
                <a:lnTo>
                  <a:pt x="108273" y="21431"/>
                </a:lnTo>
                <a:lnTo>
                  <a:pt x="104515" y="22027"/>
                </a:lnTo>
                <a:lnTo>
                  <a:pt x="100719" y="22547"/>
                </a:lnTo>
                <a:lnTo>
                  <a:pt x="96887" y="22957"/>
                </a:lnTo>
                <a:lnTo>
                  <a:pt x="93018" y="23292"/>
                </a:lnTo>
                <a:lnTo>
                  <a:pt x="89074" y="23589"/>
                </a:lnTo>
                <a:lnTo>
                  <a:pt x="85093" y="23775"/>
                </a:lnTo>
                <a:lnTo>
                  <a:pt x="81074" y="23887"/>
                </a:lnTo>
                <a:lnTo>
                  <a:pt x="77019" y="23924"/>
                </a:lnTo>
                <a:lnTo>
                  <a:pt x="72926" y="23887"/>
                </a:lnTo>
                <a:lnTo>
                  <a:pt x="68796" y="23775"/>
                </a:lnTo>
                <a:lnTo>
                  <a:pt x="64629" y="23589"/>
                </a:lnTo>
                <a:lnTo>
                  <a:pt x="60387" y="23292"/>
                </a:lnTo>
                <a:lnTo>
                  <a:pt x="57634" y="22957"/>
                </a:lnTo>
                <a:lnTo>
                  <a:pt x="54880" y="22547"/>
                </a:lnTo>
                <a:lnTo>
                  <a:pt x="52090" y="22027"/>
                </a:lnTo>
                <a:lnTo>
                  <a:pt x="49262" y="21431"/>
                </a:lnTo>
                <a:lnTo>
                  <a:pt x="46434" y="20761"/>
                </a:lnTo>
                <a:lnTo>
                  <a:pt x="43569" y="19980"/>
                </a:lnTo>
                <a:lnTo>
                  <a:pt x="40667" y="19087"/>
                </a:lnTo>
                <a:lnTo>
                  <a:pt x="37728" y="18120"/>
                </a:lnTo>
                <a:lnTo>
                  <a:pt x="34714" y="17041"/>
                </a:lnTo>
                <a:lnTo>
                  <a:pt x="31700" y="15887"/>
                </a:lnTo>
                <a:lnTo>
                  <a:pt x="28649" y="14622"/>
                </a:lnTo>
                <a:lnTo>
                  <a:pt x="25524" y="13283"/>
                </a:lnTo>
                <a:lnTo>
                  <a:pt x="22324" y="11832"/>
                </a:lnTo>
                <a:lnTo>
                  <a:pt x="19124" y="10269"/>
                </a:lnTo>
                <a:lnTo>
                  <a:pt x="15813" y="8595"/>
                </a:lnTo>
                <a:lnTo>
                  <a:pt x="12464" y="6846"/>
                </a:lnTo>
                <a:lnTo>
                  <a:pt x="9823" y="5358"/>
                </a:lnTo>
                <a:lnTo>
                  <a:pt x="6995" y="3721"/>
                </a:lnTo>
                <a:lnTo>
                  <a:pt x="5544" y="2865"/>
                </a:lnTo>
                <a:lnTo>
                  <a:pt x="4056" y="1935"/>
                </a:lnTo>
                <a:lnTo>
                  <a:pt x="2567" y="1005"/>
                </a:lnTo>
                <a:lnTo>
                  <a:pt x="104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66" name="Google Shape;66;p13"/>
          <p:cNvPicPr preferRelativeResize="0"/>
          <p:nvPr/>
        </p:nvPicPr>
        <p:blipFill rotWithShape="1">
          <a:blip r:embed="rId4">
            <a:alphaModFix/>
          </a:blip>
          <a:srcRect b="0" l="55739" r="0" t="39434"/>
          <a:stretch/>
        </p:blipFill>
        <p:spPr>
          <a:xfrm>
            <a:off x="0" y="0"/>
            <a:ext cx="3589874" cy="49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/>
          <p:cNvPicPr preferRelativeResize="0"/>
          <p:nvPr/>
        </p:nvPicPr>
        <p:blipFill rotWithShape="1">
          <a:blip r:embed="rId2">
            <a:alphaModFix/>
          </a:blip>
          <a:srcRect b="0" l="0" r="0" t="53791"/>
          <a:stretch/>
        </p:blipFill>
        <p:spPr>
          <a:xfrm>
            <a:off x="661926" y="0"/>
            <a:ext cx="4236652" cy="237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 and 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6.jpg"/><Relationship Id="rId6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cdc.gov/nchs/fastats/pneumonia.htm" TargetMode="External"/><Relationship Id="rId4" Type="http://schemas.openxmlformats.org/officeDocument/2006/relationships/hyperlink" Target="https://www.sciencedirect.com/science/article/pii/S2772442523000436" TargetMode="External"/><Relationship Id="rId5" Type="http://schemas.openxmlformats.org/officeDocument/2006/relationships/hyperlink" Target="https://www.mayoclinic.org/diseases-conditions/pneumonia/diagnosis-treatment/drc-20354210" TargetMode="External"/><Relationship Id="rId6" Type="http://schemas.openxmlformats.org/officeDocument/2006/relationships/hyperlink" Target="https://pmc.ncbi.nlm.nih.gov/articles/PMC10887593/#sec5-diagnostics-14-00390" TargetMode="External"/><Relationship Id="rId7" Type="http://schemas.openxmlformats.org/officeDocument/2006/relationships/hyperlink" Target="https://www.sciencedirect.com/science/article/pii/S2772442523000436#sec4" TargetMode="External"/><Relationship Id="rId8" Type="http://schemas.openxmlformats.org/officeDocument/2006/relationships/hyperlink" Target="https://www.sciencedirect.com/science/article/pii/S0208521622000742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pmc.ncbi.nlm.nih.gov/articles/PMC11728322/" TargetMode="External"/><Relationship Id="rId4" Type="http://schemas.openxmlformats.org/officeDocument/2006/relationships/hyperlink" Target="https://doi.org/10.1038/s41598-026-45842-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1230150" y="691925"/>
            <a:ext cx="6683700" cy="226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A Data-based approach of CNNs and RNNs to detect pneumonia from chest X‑ray images</a:t>
            </a:r>
            <a:endParaRPr sz="3500"/>
          </a:p>
        </p:txBody>
      </p:sp>
      <p:sp>
        <p:nvSpPr>
          <p:cNvPr id="76" name="Google Shape;76;p15"/>
          <p:cNvSpPr/>
          <p:nvPr/>
        </p:nvSpPr>
        <p:spPr>
          <a:xfrm rot="-395291">
            <a:off x="3110326" y="3199308"/>
            <a:ext cx="3041752" cy="281119"/>
          </a:xfrm>
          <a:custGeom>
            <a:rect b="b" l="l" r="r" t="t"/>
            <a:pathLst>
              <a:path extrusionOk="0" h="17616" w="182716">
                <a:moveTo>
                  <a:pt x="0" y="0"/>
                </a:moveTo>
                <a:cubicBezTo>
                  <a:pt x="61188" y="0"/>
                  <a:pt x="122876" y="4843"/>
                  <a:pt x="182716" y="17616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7" name="Google Shape;77;p15"/>
          <p:cNvSpPr/>
          <p:nvPr/>
        </p:nvSpPr>
        <p:spPr>
          <a:xfrm rot="-509448">
            <a:off x="4276371" y="3322374"/>
            <a:ext cx="1877891" cy="123212"/>
          </a:xfrm>
          <a:custGeom>
            <a:rect b="b" l="l" r="r" t="t"/>
            <a:pathLst>
              <a:path extrusionOk="0" h="17616" w="182716">
                <a:moveTo>
                  <a:pt x="0" y="0"/>
                </a:moveTo>
                <a:cubicBezTo>
                  <a:pt x="61188" y="0"/>
                  <a:pt x="122876" y="4843"/>
                  <a:pt x="182716" y="17616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8" name="Google Shape;78;p15"/>
          <p:cNvSpPr txBox="1"/>
          <p:nvPr/>
        </p:nvSpPr>
        <p:spPr>
          <a:xfrm>
            <a:off x="2605650" y="3719500"/>
            <a:ext cx="3932700" cy="9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Rashad Ricketts &amp; Cole Potrzeba</a:t>
            </a:r>
            <a:endParaRPr sz="16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SUNY New Paltz</a:t>
            </a:r>
            <a:endParaRPr sz="16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Deep </a:t>
            </a:r>
            <a:r>
              <a:rPr lang="en" sz="16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Learning</a:t>
            </a:r>
            <a:r>
              <a:rPr lang="en" sz="16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466</a:t>
            </a:r>
            <a:endParaRPr sz="16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352125"/>
            <a:ext cx="8520600" cy="61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pic>
        <p:nvPicPr>
          <p:cNvPr id="84" name="Google Shape;84;p16"/>
          <p:cNvPicPr preferRelativeResize="0"/>
          <p:nvPr/>
        </p:nvPicPr>
        <p:blipFill rotWithShape="1">
          <a:blip r:embed="rId3">
            <a:alphaModFix/>
          </a:blip>
          <a:srcRect b="0" l="300" r="-300" t="0"/>
          <a:stretch/>
        </p:blipFill>
        <p:spPr>
          <a:xfrm>
            <a:off x="0" y="1102850"/>
            <a:ext cx="9144000" cy="390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 rot="-395291">
            <a:off x="3110326" y="3199308"/>
            <a:ext cx="3041752" cy="281119"/>
          </a:xfrm>
          <a:custGeom>
            <a:rect b="b" l="l" r="r" t="t"/>
            <a:pathLst>
              <a:path extrusionOk="0" h="17616" w="182716">
                <a:moveTo>
                  <a:pt x="0" y="0"/>
                </a:moveTo>
                <a:cubicBezTo>
                  <a:pt x="61188" y="0"/>
                  <a:pt x="122876" y="4843"/>
                  <a:pt x="182716" y="17616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0" name="Google Shape;90;p17"/>
          <p:cNvSpPr/>
          <p:nvPr/>
        </p:nvSpPr>
        <p:spPr>
          <a:xfrm rot="-509448">
            <a:off x="4276371" y="3322374"/>
            <a:ext cx="1877891" cy="123212"/>
          </a:xfrm>
          <a:custGeom>
            <a:rect b="b" l="l" r="r" t="t"/>
            <a:pathLst>
              <a:path extrusionOk="0" h="17616" w="182716">
                <a:moveTo>
                  <a:pt x="0" y="0"/>
                </a:moveTo>
                <a:cubicBezTo>
                  <a:pt x="61188" y="0"/>
                  <a:pt x="122876" y="4843"/>
                  <a:pt x="182716" y="17616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900"/>
              <a:t>Can CNN and RNN deep learning models be used to accurately detect pneumonia from chest X‑ray images? How do their performances compare?</a:t>
            </a:r>
            <a:endParaRPr b="1"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Existing Approaches</a:t>
            </a:r>
            <a:endParaRPr/>
          </a:p>
        </p:txBody>
      </p:sp>
      <p:sp>
        <p:nvSpPr>
          <p:cNvPr id="98" name="Google Shape;98;p18"/>
          <p:cNvSpPr txBox="1"/>
          <p:nvPr>
            <p:ph idx="2" type="body"/>
          </p:nvPr>
        </p:nvSpPr>
        <p:spPr>
          <a:xfrm>
            <a:off x="655400" y="1368225"/>
            <a:ext cx="8231700" cy="28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Current machine learning approaches for identifying pneumonia: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100">
                <a:solidFill>
                  <a:srgbClr val="FFFFFF"/>
                </a:solidFill>
              </a:rPr>
              <a:t>Most literature regarding the identification of pneumonia through chest X-rays involves CNN machine learning models; published models report accuracies ranging from 74% to 98% depending on architecture and augmentation strategy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While many use CNN, their model architectures’ vary widely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100">
                <a:solidFill>
                  <a:srgbClr val="FFFFFF"/>
                </a:solidFill>
              </a:rPr>
              <a:t>There have been experimental approaches using RNN on static images by treating image pixels as sequential data, showing promise for compact models (Lvov et al., 2024)	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500"/>
              <a:t>We will create our own model architecture to see how it compares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1814075" y="4447125"/>
            <a:ext cx="4273200" cy="12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Description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3073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6667"/>
              <a:buFont typeface="Arial"/>
              <a:buChar char="●"/>
            </a:pPr>
            <a:r>
              <a:rPr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Our data comes from Kaggle where we obtained 5,216 chest X-ray images labeled either “Normal” (1,341 images) or “Pneumonia”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-30734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6667"/>
              <a:buFont typeface="Arial"/>
              <a:buChar char="●"/>
            </a:pPr>
            <a:r>
              <a:rPr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images were preprocessed to a size of 128x128 pixels and set to grayscale; the dataset is class-imbalanced (~74% Pneumonia vs. ~26% Normal), which was addressed using class-weighted loss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-30734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6667"/>
              <a:buFont typeface="Arial"/>
              <a:buChar char="●"/>
            </a:pPr>
            <a:r>
              <a:rPr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Pediatric patients 1-5 years old from Guangzhou Women and Children’s Medical Center; originally published by Kermany et al. (2018) and widely used as a benchmark in the literature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9"/>
          <p:cNvSpPr txBox="1"/>
          <p:nvPr>
            <p:ph idx="2" type="body"/>
          </p:nvPr>
        </p:nvSpPr>
        <p:spPr>
          <a:xfrm>
            <a:off x="4756200" y="523050"/>
            <a:ext cx="3999900" cy="41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 chest x-rays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Pneumonia</a:t>
            </a:r>
            <a:r>
              <a:rPr lang="en"/>
              <a:t> chest x-rays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9" title="NORMAL2-IM-1329-000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8300" y="873050"/>
            <a:ext cx="1577389" cy="1698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 title="NORMAL2-IM-1341-0001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6200" y="873050"/>
            <a:ext cx="1577402" cy="1698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 title="person959_bacteria_2884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6300" y="3216850"/>
            <a:ext cx="1577399" cy="169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 title="person970_virus_1644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88350" y="3216850"/>
            <a:ext cx="1577400" cy="169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6017725" y="0"/>
            <a:ext cx="3126300" cy="11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Design &amp; </a:t>
            </a:r>
            <a:r>
              <a:rPr lang="en"/>
              <a:t>Implementation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0"/>
          <p:cNvSpPr txBox="1"/>
          <p:nvPr>
            <p:ph idx="2" type="body"/>
          </p:nvPr>
        </p:nvSpPr>
        <p:spPr>
          <a:xfrm>
            <a:off x="6017725" y="1216200"/>
            <a:ext cx="2933700" cy="37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Starting </a:t>
            </a:r>
            <a:r>
              <a:rPr lang="en"/>
              <a:t>with</a:t>
            </a:r>
            <a:r>
              <a:rPr lang="en"/>
              <a:t> a simple CNN model we gradually added more to the </a:t>
            </a:r>
            <a:r>
              <a:rPr lang="en"/>
              <a:t>architecture</a:t>
            </a:r>
            <a:r>
              <a:rPr lang="en"/>
              <a:t> as we iterated to the next model. All models used cross </a:t>
            </a:r>
            <a:r>
              <a:rPr lang="en"/>
              <a:t>entropy</a:t>
            </a:r>
            <a:r>
              <a:rPr lang="en"/>
              <a:t> loss, model 2 and 3 had loss adjusted to account for class weights.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Model 1: Kernel size 5x5 with three convolutional layers with two fully connected layers at the end. Used ReLU and Max Pooling between layers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Model 2: Kernel size 3x3 with four convolutional layers with two fully connected layers at the end. Used ReLU, Max Pooling, and Batch Normalization between layers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Model 3: The same as model 2 with the addition of an extra fully connected layer and the use of Leaky ReLU instead of just ReLU</a:t>
            </a:r>
            <a:endParaRPr/>
          </a:p>
        </p:txBody>
      </p:sp>
      <p:pic>
        <p:nvPicPr>
          <p:cNvPr id="118" name="Google Shape;118;p20"/>
          <p:cNvPicPr preferRelativeResize="0"/>
          <p:nvPr/>
        </p:nvPicPr>
        <p:blipFill rotWithShape="1">
          <a:blip r:embed="rId3">
            <a:alphaModFix/>
          </a:blip>
          <a:srcRect b="3994" l="0" r="0" t="0"/>
          <a:stretch/>
        </p:blipFill>
        <p:spPr>
          <a:xfrm>
            <a:off x="0" y="0"/>
            <a:ext cx="6017724" cy="496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Evaluation (CNN)</a:t>
            </a:r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‘Naive’ model was created to predict only the majority class and the accuracy was 62.5% so this is the baseline comparison.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When looking at the accuracies of the models, #2 is the best at 84.78%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model also has-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Recall (Sensitivity): 0.913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Specificity: 0.739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PPV (Precision): 0.854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F1 Score: 0.883</a:t>
            </a:r>
            <a:endParaRPr/>
          </a:p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4756200" y="1211100"/>
            <a:ext cx="43878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Observed literature benchmarks on this same dataset: ensemble CNNs reach ~94% accuracy; attention-based CNNs report F1 scores of 90%+ (An &amp; Chen, 2024); simpler single-CNN models range 74-90%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At 84.78% accuracy and 0.883 F1 score, performance is consistent with simpler CNN baselines in literature and meets expectations as an introductory custom model.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4350" y="3553125"/>
            <a:ext cx="4387801" cy="151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Analysis and Insights (CNN)</a:t>
            </a:r>
            <a:endParaRPr/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The CNN model shows the ability to learn and recognize cases of pneumonia from patient chest X-rays. This model could be deployed in real world use to support existing diagnosis or integrated into imaging workflow to provide an automatic immediate response. 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The model lacks clinical validation and would need prospective testing before real-world deployment. 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FFFFF"/>
                </a:solidFill>
              </a:rPr>
              <a:t>Future improvements include hyperparameter tuning, transfer learning from pretrained models (e.g., ResNet, VGG), and larger diverse datasets.</a:t>
            </a:r>
            <a:endParaRPr/>
          </a:p>
        </p:txBody>
      </p:sp>
      <p:sp>
        <p:nvSpPr>
          <p:cNvPr id="133" name="Google Shape;133;p22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A recall of 0.913 recall means the model correctly catches ~91% of actual pneumonia cases. In screening tools, high recall is the priority metric as a missed diagnosis (false negative) carries more clinical risk than an unnecessary follow-up.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0.854 precision means ~15% of positive predictions are false alarms. While not ideal, this trade-off is acceptable in a decision-support role where a physician reviews all flagged cases before acting.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Evaluation (RNN)</a:t>
            </a:r>
            <a:endParaRPr/>
          </a:p>
        </p:txBody>
      </p:sp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Although a standard Recurrent Neural Network (RNN) is typically designed for time‑series data, this project includes an RNN model to directly compare its performance against a Convolutional Neural Network (CNN) for pneumonia detection from chest X‑ray images.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RNN model correctly classified 62.5% of the images in the test set.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At a 62.5% accuracy, the RNN model falls short of the CNN model architecture.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3"/>
          <p:cNvSpPr txBox="1"/>
          <p:nvPr>
            <p:ph idx="2" type="body"/>
          </p:nvPr>
        </p:nvSpPr>
        <p:spPr>
          <a:xfrm>
            <a:off x="4756200" y="1489825"/>
            <a:ext cx="3999900" cy="13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RNN struggles to capture complex spatial patterns and relationships across different parts of the image because it processes it as a flattened sequence</a:t>
            </a:r>
            <a:r>
              <a:rPr lang="en" sz="105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141" name="Google Shape;14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1150" y="3036425"/>
            <a:ext cx="3810002" cy="1923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Analysis and Insights (RNN)</a:t>
            </a:r>
            <a:endParaRPr/>
          </a:p>
        </p:txBody>
      </p:sp>
      <p:sp>
        <p:nvSpPr>
          <p:cNvPr id="147" name="Google Shape;147;p24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order to conduct an image classification, we had to </a:t>
            </a:r>
            <a:r>
              <a:rPr lang="en"/>
              <a:t>reshaped the image data to be fed into the RNN as a sequence of pixel rows.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approach fundamentally breaks the 2D spatial relationships that are vital for image understanding.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Overall, CNN structure leverages the spatial structure of images far better than RNN just based on its approach alone.</a:t>
            </a:r>
            <a:endParaRPr/>
          </a:p>
        </p:txBody>
      </p:sp>
      <p:sp>
        <p:nvSpPr>
          <p:cNvPr id="148" name="Google Shape;148;p24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RNN would not be an optimal usage of a deep learning model to be deployed in a medical setting.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Based on the model’s evaluation results, there remains a measurable level of prediction error within the test dataset, indicating that the model is not yet able to identify pneumonia with consistently high accuracy.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 </a:t>
            </a:r>
            <a:endParaRPr/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Pneumonia Statistics and detection methods: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CDC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https://www.cdc.gov/nchs/fastats/pneumonia.htm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50"/>
              <a:t>Science Direct</a:t>
            </a:r>
            <a:endParaRPr sz="13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https://www.sciencedirect.com/science/article/pii/S2772442523000436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50"/>
              <a:t>Mayo Clinic</a:t>
            </a:r>
            <a:endParaRPr sz="13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https://www.mayoclinic.org/diseases-conditions/pneumonia/diagnosis-treatment/drc-20354210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5" name="Google Shape;155;p2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/>
              <a:t>Scholarly Articles:</a:t>
            </a:r>
            <a:endParaRPr b="1" sz="5600">
              <a:solidFill>
                <a:srgbClr val="1B1B1B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214"/>
              <a:t>A Deep Convolutional </a:t>
            </a:r>
            <a:r>
              <a:rPr lang="en" sz="4214"/>
              <a:t>Neural</a:t>
            </a:r>
            <a:r>
              <a:rPr lang="en" sz="4214"/>
              <a:t> Network </a:t>
            </a:r>
            <a:r>
              <a:rPr lang="en" sz="4214"/>
              <a:t>for Pneumonia Detection in X-ray Images with Attention Ensemble</a:t>
            </a:r>
            <a:endParaRPr sz="4214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268" u="sng">
                <a:solidFill>
                  <a:schemeClr val="hlink"/>
                </a:solidFill>
                <a:hlinkClick r:id="rId6"/>
              </a:rPr>
              <a:t>https://pmc.ncbi.nlm.nih.gov/articles/PMC10887593/#sec5-diagnostics-14-00390</a:t>
            </a:r>
            <a:endParaRPr sz="3268"/>
          </a:p>
          <a:p>
            <a:pPr indent="0" lvl="0" marL="0" rtl="0" algn="l">
              <a:lnSpc>
                <a:spcPct val="13125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385"/>
              <a:t>A Convolutional Neural Network ensemble model for Pneumonia Detection using chest X-ray images</a:t>
            </a:r>
            <a:endParaRPr sz="406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268" u="sng">
                <a:solidFill>
                  <a:schemeClr val="hlink"/>
                </a:solidFill>
                <a:hlinkClick r:id="rId7"/>
              </a:rPr>
              <a:t>https://www.sciencedirect.com/science/article/pii/S2772442523000436#sec4</a:t>
            </a:r>
            <a:endParaRPr sz="3268"/>
          </a:p>
          <a:p>
            <a:pPr indent="0" lvl="0" marL="0" rtl="0" algn="l">
              <a:lnSpc>
                <a:spcPct val="13125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268"/>
              <a:t>Detection of pneumonia using convolutional neural networks and deep learning</a:t>
            </a:r>
            <a:endParaRPr sz="326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268" u="sng">
                <a:solidFill>
                  <a:schemeClr val="hlink"/>
                </a:solidFill>
                <a:hlinkClick r:id="rId8"/>
              </a:rPr>
              <a:t>https://www.sciencedirect.com/science/article/pii/S0208521622000742</a:t>
            </a:r>
            <a:endParaRPr sz="3268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 Cont.</a:t>
            </a:r>
            <a:endParaRPr/>
          </a:p>
        </p:txBody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Hybrid CNN-RNN for Medical Imaging (Munguia-Siu et al., 2024)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3"/>
              </a:rPr>
              <a:t>https://pmc.ncbi.nlm.nih.gov/articles/PMC11728322/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Enhancing Lung Disease Recognition through CNN-RNN Methodologies (Zahin et al., 2026)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4"/>
              </a:rPr>
              <a:t>https://doi.org/10.1038/s41598-026-45842-1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RNNs for Still Images (Lvov et al., 2024) — Embedded World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Kermany et al. (2018) — Labeled Chest X-ray Images for Classification (Mendeley Data)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6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